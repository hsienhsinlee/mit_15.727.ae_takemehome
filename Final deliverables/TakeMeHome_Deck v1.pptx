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211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8128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F7D16-AFB2-D3ED-3472-814DB63C6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620C1-8AA6-C7F4-5AF5-B418C3F2E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96B47F-1EC0-6316-04DC-45AC31148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14634-8E55-1DB1-CA60-07B3CFD592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16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hsienhsinlee.github.io/dogs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hsienhsinlee.github.io/dogs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hsienhsinlee.github.io/dog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365760"/>
            <a:ext cx="2926080" cy="292608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46720" y="2011680"/>
            <a:ext cx="1645920" cy="164592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638695" y="3657600"/>
            <a:ext cx="2194560" cy="219456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206240"/>
            <a:ext cx="9144000" cy="73152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Me Home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i="1" dirty="0">
                <a:solidFill>
                  <a:srgbClr val="FF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Adoption Wait Times in Animal Shelters Using Machine Learning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Hsien-Hsin Sean Lee  ·  Lindsay Yu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275216" y="4242816"/>
            <a:ext cx="26476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15.727 Analytical Edge  ·  Spring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75816" y="695497"/>
            <a:ext cx="822960" cy="822960"/>
          </a:xfrm>
          <a:prstGeom prst="ellipse">
            <a:avLst/>
          </a:prstGeom>
          <a:solidFill>
            <a:srgbClr val="E85D24">
              <a:alpha val="80000"/>
            </a:srgbClr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304416" y="421177"/>
            <a:ext cx="457200" cy="457200"/>
          </a:xfrm>
          <a:prstGeom prst="ellipse">
            <a:avLst/>
          </a:prstGeom>
          <a:solidFill>
            <a:srgbClr val="FF8C5A">
              <a:alpha val="70000"/>
            </a:srgbClr>
          </a:solidFill>
          <a:ln w="12700">
            <a:solidFill>
              <a:srgbClr val="FF8C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892936" y="439465"/>
            <a:ext cx="384048" cy="384048"/>
          </a:xfrm>
          <a:prstGeom prst="ellipse">
            <a:avLst/>
          </a:prstGeom>
          <a:solidFill>
            <a:srgbClr val="FF8C5A">
              <a:alpha val="60000"/>
            </a:srgbClr>
          </a:solidFill>
          <a:ln w="12700">
            <a:solidFill>
              <a:srgbClr val="FF8C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Graphic 2" descr="Puppy with solid fill">
            <a:extLst>
              <a:ext uri="{FF2B5EF4-FFF2-40B4-BE49-F238E27FC236}">
                <a16:creationId xmlns:a16="http://schemas.microsoft.com/office/drawing/2014/main" id="{4503D598-6BFB-4259-9E40-84973AF49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0404" y="676447"/>
            <a:ext cx="1317105" cy="13171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PROBLEM &amp; MOTIVATION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 Facing Animal Shelters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9377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4864" cy="3246120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5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55648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Shelters operate under severe resource constraints
</a:t>
            </a:r>
            <a:endParaRPr lang="en-US" sz="13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decisions — behavioral training, medical care, marketing — are made from </a:t>
            </a: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</a:t>
            </a: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data
</a:t>
            </a:r>
            <a:endParaRPr lang="en-US" sz="13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decisions = longer stays, more stress, lower adoptability
</a:t>
            </a:r>
            <a:endParaRPr lang="en-US" sz="13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animals at risk: every day in a shelter matters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1261872"/>
            <a:ext cx="3200400" cy="1463040"/>
          </a:xfrm>
          <a:prstGeom prst="rect">
            <a:avLst/>
          </a:prstGeom>
          <a:solidFill>
            <a:srgbClr val="EBF3FB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577840" y="1261872"/>
            <a:ext cx="54864" cy="1463040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15000" y="1417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6.5M+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5715000" y="20848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 enter US shelters each year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2907792"/>
            <a:ext cx="3200400" cy="1600200"/>
          </a:xfrm>
          <a:prstGeom prst="rect">
            <a:avLst/>
          </a:prstGeom>
          <a:solidFill>
            <a:srgbClr val="FFF8F0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577840" y="2907792"/>
            <a:ext cx="54864" cy="1600200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42432" y="30175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5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42432" y="336499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adoption wait time at intake — before any assessment — to enable immediate, data-driven triage.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BBCC"/>
                </a:solidFill>
              </a:rPr>
              <a:t>MIT 15.727 Analytical Edge  ·  Take Me Home  ·  2026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4846320"/>
            <a:ext cx="109728" cy="109728"/>
          </a:xfrm>
          <a:prstGeom prst="ellipse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66928" y="4846320"/>
            <a:ext cx="109728" cy="109728"/>
          </a:xfrm>
          <a:prstGeom prst="ellipse">
            <a:avLst/>
          </a:prstGeom>
          <a:solidFill>
            <a:srgbClr val="FF8C5A"/>
          </a:solidFill>
          <a:ln w="12700">
            <a:solidFill>
              <a:srgbClr val="FF8C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8096" y="4846320"/>
            <a:ext cx="109728" cy="109728"/>
          </a:xfrm>
          <a:prstGeom prst="ellipse">
            <a:avLst/>
          </a:prstGeom>
          <a:solidFill>
            <a:srgbClr val="FFBA94"/>
          </a:solidFill>
          <a:ln w="12700">
            <a:solidFill>
              <a:srgbClr val="FFB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59" y="548640"/>
            <a:ext cx="850053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Austin Animal Center (ACC) Shelter Outcomes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0233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4864" cy="3246120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8013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92224" y="18013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 Animal Center (public)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23113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92224" y="22311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Dogs (separate cat model)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6609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92224" y="266090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adoptions only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0906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92224" y="30906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 days (outlier removal)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5204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92224" y="3520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log(1 + days to adoption)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39502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92224" y="39502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 training /  20 % test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261872"/>
            <a:ext cx="411480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1261872"/>
            <a:ext cx="54864" cy="3246120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Engineered Features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18013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Animal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54496" y="18501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age bucket, sex, neuter status, color, is_named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2331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🐕 Breed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54496" y="23820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Target-encoded breed, is_large_breed, is_bully_breed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28620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Intake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54496" y="29352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type &amp; condition (target-encoded)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3924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Temporal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54496" y="34472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month, day of week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39227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Interaction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54496" y="4008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sick_senior (sick + over 6 yrs old)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BBCC"/>
                </a:solidFill>
              </a:rPr>
              <a:t>MIT 15.727 Analytical Edge  ·  Take Me Home  ·  2026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4846320"/>
            <a:ext cx="109728" cy="109728"/>
          </a:xfrm>
          <a:prstGeom prst="ellipse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66928" y="4846320"/>
            <a:ext cx="109728" cy="109728"/>
          </a:xfrm>
          <a:prstGeom prst="ellipse">
            <a:avLst/>
          </a:prstGeom>
          <a:solidFill>
            <a:srgbClr val="FF8C5A"/>
          </a:solidFill>
          <a:ln w="12700">
            <a:solidFill>
              <a:srgbClr val="FF8C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68096" y="4846320"/>
            <a:ext cx="109728" cy="109728"/>
          </a:xfrm>
          <a:prstGeom prst="ellipse">
            <a:avLst/>
          </a:prstGeom>
          <a:solidFill>
            <a:srgbClr val="FFBA94"/>
          </a:solidFill>
          <a:ln w="12700">
            <a:solidFill>
              <a:srgbClr val="FFB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METHODS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Analytical Approach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029968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1426464"/>
            <a:ext cx="822960" cy="8229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42646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359152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Model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090672"/>
            <a:ext cx="914400" cy="45720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227832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 trees on </a:t>
            </a: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log-transformed LOS. </a:t>
            </a: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trees, </a:t>
            </a: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depth=6, LR=0.04.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42032" y="1261872"/>
            <a:ext cx="2029968" cy="3246120"/>
          </a:xfrm>
          <a:prstGeom prst="rect">
            <a:avLst/>
          </a:prstGeom>
          <a:solidFill>
            <a:srgbClr val="FFF8F0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36392" y="1426464"/>
            <a:ext cx="822960" cy="8229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36392" y="142646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33472" y="2359152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Interpretability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090672" y="3090672"/>
            <a:ext cx="914400" cy="45720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33472" y="3227832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Per-feature signed attributions that explain every prediction — usable by non-technical staff.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18304" y="1261872"/>
            <a:ext cx="2029968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312664" y="1426464"/>
            <a:ext cx="822960" cy="8229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12664" y="142646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09744" y="2359152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266944" y="3090672"/>
            <a:ext cx="914400" cy="45720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9744" y="3227832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 (elbow method). Groups dogs into 5 actionable adoption risk profiles at intake.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94576" y="1261872"/>
            <a:ext cx="2029968" cy="3246120"/>
          </a:xfrm>
          <a:prstGeom prst="rect">
            <a:avLst/>
          </a:prstGeom>
          <a:solidFill>
            <a:srgbClr val="FFF8F0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488936" y="1426464"/>
            <a:ext cx="822960" cy="8229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88936" y="142646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86016" y="2359152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Survival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443216" y="3090672"/>
            <a:ext cx="914400" cy="45720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86016" y="3227832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Kaplan-Meier curves + Cox PH model. Quantifies bully breed gap and hazard ratios.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BBCC"/>
                </a:solidFill>
              </a:rPr>
              <a:t>MIT 15.727 Analytical Edge  ·  Take Me Home  ·  2026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" y="4846320"/>
            <a:ext cx="109728" cy="109728"/>
          </a:xfrm>
          <a:prstGeom prst="ellipse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66928" y="4846320"/>
            <a:ext cx="109728" cy="109728"/>
          </a:xfrm>
          <a:prstGeom prst="ellipse">
            <a:avLst/>
          </a:prstGeom>
          <a:solidFill>
            <a:srgbClr val="FF8C5A"/>
          </a:solidFill>
          <a:ln w="12700">
            <a:solidFill>
              <a:srgbClr val="FF8C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68096" y="4846320"/>
            <a:ext cx="109728" cy="109728"/>
          </a:xfrm>
          <a:prstGeom prst="ellipse">
            <a:avLst/>
          </a:prstGeom>
          <a:solidFill>
            <a:srgbClr val="FFBA94"/>
          </a:solidFill>
          <a:ln w="12700">
            <a:solidFill>
              <a:srgbClr val="FFB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RESULTS for Dogs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Performance for Dogs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52690" y="1261872"/>
            <a:ext cx="2743200" cy="2011680"/>
          </a:xfrm>
          <a:prstGeom prst="rect">
            <a:avLst/>
          </a:prstGeom>
          <a:solidFill>
            <a:srgbClr val="1F3864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744130" y="1417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0.361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744130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Model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Log-scale R²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44130" y="2862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0.30 = reasonably good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8770" y="1261872"/>
            <a:ext cx="27432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70210" y="1417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19.4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670210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Mean Absolute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(days)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70210" y="2862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prediction range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6493" y="3438144"/>
            <a:ext cx="8412480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65760" y="3429000"/>
            <a:ext cx="54864" cy="1188720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98465" y="3739895"/>
            <a:ext cx="3197268" cy="645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Dogs — Predicted vs. Actual LOS and Residual Distribution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BBCC"/>
                </a:solidFill>
              </a:rPr>
              <a:t>MIT 15.727 Analytical Edge  ·  Take Me Home  ·  2026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4846320"/>
            <a:ext cx="109728" cy="109728"/>
          </a:xfrm>
          <a:prstGeom prst="ellipse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66928" y="4846320"/>
            <a:ext cx="109728" cy="109728"/>
          </a:xfrm>
          <a:prstGeom prst="ellipse">
            <a:avLst/>
          </a:prstGeom>
          <a:solidFill>
            <a:srgbClr val="FF8C5A"/>
          </a:solidFill>
          <a:ln w="12700">
            <a:solidFill>
              <a:srgbClr val="FF8C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68096" y="4846320"/>
            <a:ext cx="109728" cy="109728"/>
          </a:xfrm>
          <a:prstGeom prst="ellipse">
            <a:avLst/>
          </a:prstGeom>
          <a:solidFill>
            <a:srgbClr val="FFBA94"/>
          </a:solidFill>
          <a:ln w="12700">
            <a:solidFill>
              <a:srgbClr val="FFB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6ACE14F-AFD6-69BC-81B8-880199F6A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228" y="3451712"/>
            <a:ext cx="3572511" cy="1160230"/>
          </a:xfrm>
          <a:prstGeom prst="rect">
            <a:avLst/>
          </a:prstGeom>
        </p:spPr>
      </p:pic>
      <p:pic>
        <p:nvPicPr>
          <p:cNvPr id="19" name="Graphic 2" descr="Puppy with solid fill">
            <a:extLst>
              <a:ext uri="{FF2B5EF4-FFF2-40B4-BE49-F238E27FC236}">
                <a16:creationId xmlns:a16="http://schemas.microsoft.com/office/drawing/2014/main" id="{A7F7EF38-FFDB-3D11-9737-8644F1D408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15253" y="157310"/>
            <a:ext cx="338667" cy="3386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499D5F-FAFD-A218-2E4E-593442D8A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B4FE09-4B6A-3DEE-5B45-05FCF7B4D1D6}"/>
              </a:ext>
            </a:extLst>
          </p:cNvPr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728D40-61FD-4DEE-BB87-7646152BD629}"/>
              </a:ext>
            </a:extLst>
          </p:cNvPr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RESULTS for Cats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DC6B25-05C7-3295-E0FD-1DC128DDFAF1}"/>
              </a:ext>
            </a:extLst>
          </p:cNvPr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Performance for Cats</a:t>
            </a:r>
            <a:endParaRPr lang="en-US" sz="28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DCA929B-AA0F-DE4D-4C91-618062103DD1}"/>
              </a:ext>
            </a:extLst>
          </p:cNvPr>
          <p:cNvSpPr/>
          <p:nvPr/>
        </p:nvSpPr>
        <p:spPr>
          <a:xfrm>
            <a:off x="4605858" y="1261872"/>
            <a:ext cx="27432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E9F7B8A-9275-3031-BE0A-2D8DCCCB9DC8}"/>
              </a:ext>
            </a:extLst>
          </p:cNvPr>
          <p:cNvSpPr/>
          <p:nvPr/>
        </p:nvSpPr>
        <p:spPr>
          <a:xfrm>
            <a:off x="4697298" y="1417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19.6</a:t>
            </a:r>
            <a:endParaRPr lang="en-US" sz="5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90D5AC3-DF16-EC37-34AB-3DAC910252D3}"/>
              </a:ext>
            </a:extLst>
          </p:cNvPr>
          <p:cNvSpPr/>
          <p:nvPr/>
        </p:nvSpPr>
        <p:spPr>
          <a:xfrm>
            <a:off x="4697298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Mean Absolute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(days)</a:t>
            </a: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BB1CED2-C7C1-896A-C8E4-2BC1A3E8C12F}"/>
              </a:ext>
            </a:extLst>
          </p:cNvPr>
          <p:cNvSpPr/>
          <p:nvPr/>
        </p:nvSpPr>
        <p:spPr>
          <a:xfrm>
            <a:off x="4697298" y="2862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prediction range</a:t>
            </a:r>
            <a:endParaRPr lang="en-US" sz="1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9583C56-C0F1-C060-A67F-127E4FC79392}"/>
              </a:ext>
            </a:extLst>
          </p:cNvPr>
          <p:cNvSpPr/>
          <p:nvPr/>
        </p:nvSpPr>
        <p:spPr>
          <a:xfrm>
            <a:off x="1632365" y="1261872"/>
            <a:ext cx="2743200" cy="2011680"/>
          </a:xfrm>
          <a:prstGeom prst="rect">
            <a:avLst/>
          </a:prstGeom>
          <a:solidFill>
            <a:srgbClr val="FFF8F0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CB5F4D3-2107-006D-7585-9A80D6F492B7}"/>
              </a:ext>
            </a:extLst>
          </p:cNvPr>
          <p:cNvSpPr/>
          <p:nvPr/>
        </p:nvSpPr>
        <p:spPr>
          <a:xfrm>
            <a:off x="1723805" y="1417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0.421</a:t>
            </a:r>
            <a:endParaRPr lang="en-US" sz="5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7E6555A-6705-C58B-22A8-FD766CD9EDC6}"/>
              </a:ext>
            </a:extLst>
          </p:cNvPr>
          <p:cNvSpPr/>
          <p:nvPr/>
        </p:nvSpPr>
        <p:spPr>
          <a:xfrm>
            <a:off x="1723805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Model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Log-scale R²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2F14427-C8C0-07E5-1AF9-25D7C849C08E}"/>
              </a:ext>
            </a:extLst>
          </p:cNvPr>
          <p:cNvSpPr/>
          <p:nvPr/>
        </p:nvSpPr>
        <p:spPr>
          <a:xfrm>
            <a:off x="1723805" y="2862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5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cross-species framework</a:t>
            </a:r>
            <a:endParaRPr lang="en-US" sz="1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EEE3876-5098-4D14-2DEF-9E38E9A6A09F}"/>
              </a:ext>
            </a:extLst>
          </p:cNvPr>
          <p:cNvSpPr/>
          <p:nvPr/>
        </p:nvSpPr>
        <p:spPr>
          <a:xfrm>
            <a:off x="306493" y="3438144"/>
            <a:ext cx="8412480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EDCA547-FF16-9EA8-4E58-2CFC3C7D6EEA}"/>
              </a:ext>
            </a:extLst>
          </p:cNvPr>
          <p:cNvSpPr/>
          <p:nvPr/>
        </p:nvSpPr>
        <p:spPr>
          <a:xfrm>
            <a:off x="365760" y="3429000"/>
            <a:ext cx="54864" cy="1188720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D2FBD44-3C88-43EF-79EB-6CAACD8C64F6}"/>
              </a:ext>
            </a:extLst>
          </p:cNvPr>
          <p:cNvSpPr/>
          <p:nvPr/>
        </p:nvSpPr>
        <p:spPr>
          <a:xfrm>
            <a:off x="4998465" y="3739895"/>
            <a:ext cx="3434335" cy="645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Cats — Predicted vs. Actual LOS and Residual Distribution</a:t>
            </a:r>
            <a:endParaRPr lang="en-US" sz="10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86E6D5B-08DF-3D7C-0929-0261FC7E3084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2C8B788-C68A-EA0A-F965-DE1AC9AE659D}"/>
              </a:ext>
            </a:extLst>
          </p:cNvPr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BBCC"/>
                </a:solidFill>
              </a:rPr>
              <a:t>MIT 15.727 Analytical Edge  ·  Take Me Home  ·  2026</a:t>
            </a:r>
            <a:endParaRPr lang="en-US" sz="8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ABF8050-AB35-C1CD-D011-DEECFCE8159B}"/>
              </a:ext>
            </a:extLst>
          </p:cNvPr>
          <p:cNvSpPr/>
          <p:nvPr/>
        </p:nvSpPr>
        <p:spPr>
          <a:xfrm>
            <a:off x="365760" y="4846320"/>
            <a:ext cx="109728" cy="109728"/>
          </a:xfrm>
          <a:prstGeom prst="ellipse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D286A75-72AE-F5D7-19E1-23D8D9E68792}"/>
              </a:ext>
            </a:extLst>
          </p:cNvPr>
          <p:cNvSpPr/>
          <p:nvPr/>
        </p:nvSpPr>
        <p:spPr>
          <a:xfrm>
            <a:off x="566928" y="4846320"/>
            <a:ext cx="109728" cy="109728"/>
          </a:xfrm>
          <a:prstGeom prst="ellipse">
            <a:avLst/>
          </a:prstGeom>
          <a:solidFill>
            <a:srgbClr val="FF8C5A"/>
          </a:solidFill>
          <a:ln w="12700">
            <a:solidFill>
              <a:srgbClr val="FF8C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27B1709A-E0D8-A9C7-4DD3-1243EA579268}"/>
              </a:ext>
            </a:extLst>
          </p:cNvPr>
          <p:cNvSpPr/>
          <p:nvPr/>
        </p:nvSpPr>
        <p:spPr>
          <a:xfrm>
            <a:off x="768096" y="4846320"/>
            <a:ext cx="109728" cy="109728"/>
          </a:xfrm>
          <a:prstGeom prst="ellipse">
            <a:avLst/>
          </a:prstGeom>
          <a:solidFill>
            <a:srgbClr val="FFBA94"/>
          </a:solidFill>
          <a:ln w="12700">
            <a:solidFill>
              <a:srgbClr val="FFB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2C22CD5-8621-92EA-44BA-D31D3F40B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523" y="3499251"/>
            <a:ext cx="3434335" cy="1118469"/>
          </a:xfrm>
          <a:prstGeom prst="rect">
            <a:avLst/>
          </a:prstGeom>
        </p:spPr>
      </p:pic>
      <p:pic>
        <p:nvPicPr>
          <p:cNvPr id="30" name="Graphic 29" descr="Cat with solid fill">
            <a:extLst>
              <a:ext uri="{FF2B5EF4-FFF2-40B4-BE49-F238E27FC236}">
                <a16:creationId xmlns:a16="http://schemas.microsoft.com/office/drawing/2014/main" id="{9CFD62E2-F18F-B0A5-3718-4D311F58DC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28800" y="186267"/>
            <a:ext cx="270933" cy="27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840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RESULTS for Dogs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Drives Adoption Speed?  (SHAP)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5120640" cy="324612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4864" cy="3246120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4258733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Figure 2. SHAP Feature Importance (Mean |SHAP value|)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15000" y="1307592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15000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55080" y="12984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156362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Older dogs wait significantly longer — observable immediately at intake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15000" y="2130552"/>
            <a:ext cx="502920" cy="502920"/>
          </a:xfrm>
          <a:prstGeom prst="ellipse">
            <a:avLst/>
          </a:prstGeom>
          <a:solidFill>
            <a:srgbClr val="E85D2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15000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21214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38658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Bully breeds + certain mixes face persistent adoption bias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15000" y="2953512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15000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29443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320954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“Named” dogs get adopted faster — a simple, zero-cost intervention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15000" y="3776472"/>
            <a:ext cx="502920" cy="502920"/>
          </a:xfrm>
          <a:prstGeom prst="ellipse">
            <a:avLst/>
          </a:prstGeom>
          <a:solidFill>
            <a:srgbClr val="767676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15000" y="3776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37673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Neutered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403250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Spayed/neutered animals are adopted faster across all breeds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BBCC"/>
                </a:solidFill>
              </a:rPr>
              <a:t>MIT 15.727 Analytical Edge  ·  Take Me Home  ·  2026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4846320"/>
            <a:ext cx="109728" cy="109728"/>
          </a:xfrm>
          <a:prstGeom prst="ellipse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66928" y="4846320"/>
            <a:ext cx="109728" cy="109728"/>
          </a:xfrm>
          <a:prstGeom prst="ellipse">
            <a:avLst/>
          </a:prstGeom>
          <a:solidFill>
            <a:srgbClr val="FF8C5A"/>
          </a:solidFill>
          <a:ln w="12700">
            <a:solidFill>
              <a:srgbClr val="FF8C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68096" y="4846320"/>
            <a:ext cx="109728" cy="109728"/>
          </a:xfrm>
          <a:prstGeom prst="ellipse">
            <a:avLst/>
          </a:prstGeom>
          <a:solidFill>
            <a:srgbClr val="FFBA94"/>
          </a:solidFill>
          <a:ln w="12700">
            <a:solidFill>
              <a:srgbClr val="FFB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67689E0-5999-E24F-D3A3-CB4293C48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329" y="1280837"/>
            <a:ext cx="3969502" cy="2949172"/>
          </a:xfrm>
          <a:prstGeom prst="rect">
            <a:avLst/>
          </a:prstGeom>
        </p:spPr>
      </p:pic>
      <p:pic>
        <p:nvPicPr>
          <p:cNvPr id="7" name="Graphic 2" descr="Puppy with solid fill">
            <a:extLst>
              <a:ext uri="{FF2B5EF4-FFF2-40B4-BE49-F238E27FC236}">
                <a16:creationId xmlns:a16="http://schemas.microsoft.com/office/drawing/2014/main" id="{9E26CA04-FFE4-0A7A-FE79-3E1F6B2BE1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15253" y="157310"/>
            <a:ext cx="338667" cy="338667"/>
          </a:xfrm>
          <a:prstGeom prst="rect">
            <a:avLst/>
          </a:prstGeom>
        </p:spPr>
      </p:pic>
      <p:sp>
        <p:nvSpPr>
          <p:cNvPr id="31" name="Text 6">
            <a:extLst>
              <a:ext uri="{FF2B5EF4-FFF2-40B4-BE49-F238E27FC236}">
                <a16:creationId xmlns:a16="http://schemas.microsoft.com/office/drawing/2014/main" id="{27E55E80-A6B8-C55A-EE29-10CAD86C1C14}"/>
              </a:ext>
            </a:extLst>
          </p:cNvPr>
          <p:cNvSpPr/>
          <p:nvPr/>
        </p:nvSpPr>
        <p:spPr>
          <a:xfrm>
            <a:off x="475488" y="4588425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 SHAP: Shapley Additive </a:t>
            </a:r>
            <a:r>
              <a:rPr lang="en-US" sz="9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RESULTS for Dogs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Bully Breed Gap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5120640" cy="324612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4864" cy="3246120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42062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 Kaplan-Meier — Bully vs. Non-Bully Breed Dogs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15000" y="1261872"/>
            <a:ext cx="30632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0" y="1261872"/>
            <a:ext cx="54864" cy="3246120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9788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97880" y="1801368"/>
            <a:ext cx="594360" cy="310896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97880" y="180136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37960" y="180136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 of bully breeds still unadopted vs. ~40% of others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97880" y="2459736"/>
            <a:ext cx="594360" cy="310896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97880" y="245973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37960" y="245973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persists — bully breeds ~40% still waiting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97880" y="3118104"/>
            <a:ext cx="594360" cy="310896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97880" y="3118104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37960" y="311810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~17% of bully breeds remain vs. ~4% non-bully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97880" y="3776472"/>
            <a:ext cx="594360" cy="31089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97880" y="377647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PH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37960" y="377647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Bully breed status significant even after controlling all other factors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BBCC"/>
                </a:solidFill>
              </a:rPr>
              <a:t>MIT 15.727 Analytical Edge  ·  Take Me Home  ·  2026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4846320"/>
            <a:ext cx="109728" cy="109728"/>
          </a:xfrm>
          <a:prstGeom prst="ellipse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66928" y="4846320"/>
            <a:ext cx="109728" cy="109728"/>
          </a:xfrm>
          <a:prstGeom prst="ellipse">
            <a:avLst/>
          </a:prstGeom>
          <a:solidFill>
            <a:srgbClr val="FF8C5A"/>
          </a:solidFill>
          <a:ln w="12700">
            <a:solidFill>
              <a:srgbClr val="FF8C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68096" y="4846320"/>
            <a:ext cx="109728" cy="109728"/>
          </a:xfrm>
          <a:prstGeom prst="ellipse">
            <a:avLst/>
          </a:prstGeom>
          <a:solidFill>
            <a:srgbClr val="FFBA94"/>
          </a:solidFill>
          <a:ln w="12700">
            <a:solidFill>
              <a:srgbClr val="FFB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BDDD16C-976C-D775-DB76-D0EE27F2D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897" y="1364707"/>
            <a:ext cx="4924303" cy="2692978"/>
          </a:xfrm>
          <a:prstGeom prst="rect">
            <a:avLst/>
          </a:prstGeom>
        </p:spPr>
      </p:pic>
      <p:pic>
        <p:nvPicPr>
          <p:cNvPr id="7" name="Graphic 2" descr="Puppy with solid fill">
            <a:extLst>
              <a:ext uri="{FF2B5EF4-FFF2-40B4-BE49-F238E27FC236}">
                <a16:creationId xmlns:a16="http://schemas.microsoft.com/office/drawing/2014/main" id="{3342633A-71E6-737A-2474-76712DC54E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15253" y="157310"/>
            <a:ext cx="338667" cy="3386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RESULTS for Dogs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Dog Adoption Risk Profiles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93959" y="2037072"/>
            <a:ext cx="1572768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3959" y="2037072"/>
            <a:ext cx="1572768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3959" y="20370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39679" y="26497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 days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9679" y="30977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LOS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3143" y="3408672"/>
            <a:ext cx="9144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9679" y="3518400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Mover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9679" y="3865872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Young, named,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neutered, popular breed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13031" y="2037072"/>
            <a:ext cx="1572768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013031" y="2037072"/>
            <a:ext cx="1572768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13031" y="20370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058751" y="26497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~14 days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58751" y="30977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42215" y="3408672"/>
            <a:ext cx="9144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058751" y="3518400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58751" y="3865872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Typical stray,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short-coat, adult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32103" y="2037072"/>
            <a:ext cx="1572768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32103" y="2037072"/>
            <a:ext cx="1572768" cy="502920"/>
          </a:xfrm>
          <a:prstGeom prst="rect">
            <a:avLst/>
          </a:prstGeom>
          <a:solidFill>
            <a:srgbClr val="6BAED6"/>
          </a:solidFill>
          <a:ln w="12700">
            <a:solidFill>
              <a:srgbClr val="6BA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32103" y="20370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777823" y="26497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AE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~18 days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777823" y="30977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LOS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061287" y="3408672"/>
            <a:ext cx="914400" cy="36576"/>
          </a:xfrm>
          <a:prstGeom prst="rect">
            <a:avLst/>
          </a:prstGeom>
          <a:solidFill>
            <a:srgbClr val="6BAED6"/>
          </a:solidFill>
          <a:ln w="12700">
            <a:solidFill>
              <a:srgbClr val="6BA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77823" y="3518400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77823" y="3865872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Mixed breed,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normal condition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51175" y="2037072"/>
            <a:ext cx="1572768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451175" y="2037072"/>
            <a:ext cx="1572768" cy="502920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51175" y="20370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C3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96895" y="26497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D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~32 days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96895" y="30977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LOS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780359" y="3408672"/>
            <a:ext cx="914400" cy="36576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96895" y="3518400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96895" y="3865872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Older, medical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conditions, unnamed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0247" y="2037072"/>
            <a:ext cx="1572768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170247" y="2037072"/>
            <a:ext cx="1572768" cy="50292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170247" y="20370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C4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215967" y="264972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~28 days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215967" y="30977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LOS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499431" y="3408672"/>
            <a:ext cx="914400" cy="36576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215967" y="3518400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15967" y="3865872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Bully breed,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owner surrender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65760" y="4617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E85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Shelters should focus intervention resources on Clusters 3 &amp; 4 from Day 1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BBCC"/>
                </a:solidFill>
              </a:rPr>
              <a:t>MIT 15.727 Analytical Edge  ·  Take Me Home  ·  2026</a:t>
            </a:r>
            <a:endParaRPr lang="en-US" sz="800" dirty="0"/>
          </a:p>
        </p:txBody>
      </p:sp>
      <p:pic>
        <p:nvPicPr>
          <p:cNvPr id="48" name="Graphic 2" descr="Puppy with solid fill">
            <a:extLst>
              <a:ext uri="{FF2B5EF4-FFF2-40B4-BE49-F238E27FC236}">
                <a16:creationId xmlns:a16="http://schemas.microsoft.com/office/drawing/2014/main" id="{A38DD9EF-3FAC-2CAE-D8C8-E97D6C0491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5253" y="157310"/>
            <a:ext cx="338667" cy="338667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139BF0B7-72AA-BD6F-A016-9FC3CDC8B7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5856" y="33020"/>
            <a:ext cx="3101294" cy="191735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DOGS PLATFORM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38650"/>
            <a:ext cx="8412480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Me Home — Live Web App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37067" y="1143000"/>
            <a:ext cx="5249333" cy="336499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4864" cy="3246120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715000" y="1261872"/>
            <a:ext cx="30632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15000" y="1261872"/>
            <a:ext cx="54864" cy="3246120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89788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97880" y="1819656"/>
            <a:ext cx="310896" cy="310896"/>
          </a:xfrm>
          <a:prstGeom prst="ellipse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97880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91072" y="1872827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enters dog attributes at intake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97880" y="2478024"/>
            <a:ext cx="310896" cy="310896"/>
          </a:xfrm>
          <a:prstGeom prst="ellipse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97880" y="2478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91072" y="251460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 runs in the backend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97880" y="3136392"/>
            <a:ext cx="310896" cy="310896"/>
          </a:xfrm>
          <a:prstGeom prst="ellipse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97880" y="3136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91072" y="3118104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returns predicted wait days + confidence range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97880" y="3794760"/>
            <a:ext cx="310896" cy="310896"/>
          </a:xfrm>
          <a:prstGeom prst="ellipse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9788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91072" y="377647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 flags high-risk animals for immediate action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63624" y="4554559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E85D2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https://hsienhsinlee.github.io/dogs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BBCC"/>
                </a:solidFill>
              </a:rPr>
              <a:t>MIT 15.727 Analytical Edge  ·  Take Me Home  ·  2026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4846320"/>
            <a:ext cx="109728" cy="109728"/>
          </a:xfrm>
          <a:prstGeom prst="ellipse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66928" y="4846320"/>
            <a:ext cx="109728" cy="109728"/>
          </a:xfrm>
          <a:prstGeom prst="ellipse">
            <a:avLst/>
          </a:prstGeom>
          <a:solidFill>
            <a:srgbClr val="FF8C5A"/>
          </a:solidFill>
          <a:ln w="12700">
            <a:solidFill>
              <a:srgbClr val="FF8C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68096" y="4846320"/>
            <a:ext cx="109728" cy="109728"/>
          </a:xfrm>
          <a:prstGeom prst="ellipse">
            <a:avLst/>
          </a:prstGeom>
          <a:solidFill>
            <a:srgbClr val="FFBA94"/>
          </a:solidFill>
          <a:ln w="12700">
            <a:solidFill>
              <a:srgbClr val="FFB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2F8E8BC-F4BF-25BE-5373-E55927429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251" y="1101852"/>
            <a:ext cx="3298613" cy="3388049"/>
          </a:xfrm>
          <a:prstGeom prst="rect">
            <a:avLst/>
          </a:prstGeom>
        </p:spPr>
      </p:pic>
      <p:pic>
        <p:nvPicPr>
          <p:cNvPr id="7" name="Graphic 2" descr="Puppy with solid fill">
            <a:extLst>
              <a:ext uri="{FF2B5EF4-FFF2-40B4-BE49-F238E27FC236}">
                <a16:creationId xmlns:a16="http://schemas.microsoft.com/office/drawing/2014/main" id="{A234AB17-2EEB-009A-1C1C-9DE1A4036F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15253" y="157310"/>
            <a:ext cx="338667" cy="3386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DISCUSSION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11480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4864" cy="3246120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0136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Austin-only data — generalizability untested across cities and shelter policies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0487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Log-scale R² = 0.361 — behavior at adoption event is unobservable at intake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00837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Underpredicts very long stays (&gt;100 days) — the highest-stakes cases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118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Naming correlation may reflect reverse causation (staff name those dogs that are likely to be adopted quickly, not causality)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261872"/>
            <a:ext cx="4114800" cy="3246120"/>
          </a:xfrm>
          <a:prstGeom prst="rect">
            <a:avLst/>
          </a:prstGeom>
          <a:solidFill>
            <a:srgbClr val="FFF8F0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261872"/>
            <a:ext cx="54864" cy="3246120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80136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Image-based features: photo quality and expression shown to influence online adoption interest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19" y="2404872"/>
            <a:ext cx="38370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Multi-shelter generalization: test across diverse geographical locations and policies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00837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Dynamic model: update LOS predictions daily as shelter time accumulates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6118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into shelter management systems (PetPoint, Chameleon) for real-time triage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BBCC"/>
                </a:solidFill>
              </a:rPr>
              <a:t>MIT 15.727 Analytical Edge  ·  Take Me Home  ·  2026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4846320"/>
            <a:ext cx="109728" cy="109728"/>
          </a:xfrm>
          <a:prstGeom prst="ellipse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66928" y="4846320"/>
            <a:ext cx="109728" cy="109728"/>
          </a:xfrm>
          <a:prstGeom prst="ellipse">
            <a:avLst/>
          </a:prstGeom>
          <a:solidFill>
            <a:srgbClr val="FF8C5A"/>
          </a:solidFill>
          <a:ln w="12700">
            <a:solidFill>
              <a:srgbClr val="FF8C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8096" y="4846320"/>
            <a:ext cx="109728" cy="109728"/>
          </a:xfrm>
          <a:prstGeom prst="ellipse">
            <a:avLst/>
          </a:prstGeom>
          <a:solidFill>
            <a:srgbClr val="FFBA94"/>
          </a:solidFill>
          <a:ln w="12700">
            <a:solidFill>
              <a:srgbClr val="FFB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-576072"/>
            <a:ext cx="3200400" cy="32004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170432" y="3364992"/>
            <a:ext cx="2560320" cy="256032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300" dirty="0">
                <a:solidFill>
                  <a:srgbClr val="FF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Impact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Data-driven triage from Day 1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7955280" cy="62179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892808"/>
            <a:ext cx="402336" cy="402336"/>
          </a:xfrm>
          <a:prstGeom prst="ellipse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892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8992" y="183794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breed, and name are observable at intake — no behavioral assessment needed to flag risk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7955280" cy="62179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624328"/>
            <a:ext cx="402336" cy="402336"/>
          </a:xfrm>
          <a:prstGeom prst="ellipse">
            <a:avLst/>
          </a:prstGeom>
          <a:solidFill>
            <a:srgbClr val="FF8C5A"/>
          </a:solidFill>
          <a:ln w="12700">
            <a:solidFill>
              <a:srgbClr val="FF8C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624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8992" y="256946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unnamed animals at intake is a zero-cost, immediately actionable intervention to accelerate adoption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7955280" cy="62179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355848"/>
            <a:ext cx="402336" cy="402336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355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330098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Bully breeds need targeted advocacy from Day 1 — the gap is stark and persistent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7955280" cy="62179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4087368"/>
            <a:ext cx="402336" cy="402336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4087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78992" y="403250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interpretability makes model recommendations legible to non-technical shelter staff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99B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http://hsienhsinlee.github.io/dogs/  </a:t>
            </a:r>
            <a:r>
              <a:rPr lang="en-US" sz="900" dirty="0">
                <a:solidFill>
                  <a:srgbClr val="7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MIT 15.727 Analytical Edge  ·  Spring 2026</a:t>
            </a:r>
            <a:endParaRPr lang="en-US" sz="900" dirty="0"/>
          </a:p>
        </p:txBody>
      </p:sp>
      <p:pic>
        <p:nvPicPr>
          <p:cNvPr id="24" name="Graphic 2" descr="Puppy with solid fill">
            <a:extLst>
              <a:ext uri="{FF2B5EF4-FFF2-40B4-BE49-F238E27FC236}">
                <a16:creationId xmlns:a16="http://schemas.microsoft.com/office/drawing/2014/main" id="{F539D061-6F3F-0FC1-5290-503A039431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44199" y="394763"/>
            <a:ext cx="1317105" cy="13171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31720"/>
            <a:ext cx="9144000" cy="73152"/>
          </a:xfrm>
          <a:prstGeom prst="rect">
            <a:avLst/>
          </a:prstGeom>
          <a:solidFill>
            <a:srgbClr val="E85D24"/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703320" y="365760"/>
            <a:ext cx="1737360" cy="1737360"/>
          </a:xfrm>
          <a:prstGeom prst="ellipse">
            <a:avLst/>
          </a:prstGeom>
          <a:solidFill>
            <a:srgbClr val="E85D24">
              <a:alpha val="70000"/>
            </a:srgbClr>
          </a:solidFill>
          <a:ln w="12700">
            <a:solidFill>
              <a:srgbClr val="E85D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297680" y="320040"/>
            <a:ext cx="777240" cy="777240"/>
          </a:xfrm>
          <a:prstGeom prst="ellipse">
            <a:avLst/>
          </a:prstGeom>
          <a:solidFill>
            <a:srgbClr val="FF8C5A">
              <a:alpha val="80000"/>
            </a:srgbClr>
          </a:solidFill>
          <a:ln w="12700">
            <a:solidFill>
              <a:srgbClr val="FF8C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520440" y="274320"/>
            <a:ext cx="640080" cy="640080"/>
          </a:xfrm>
          <a:prstGeom prst="ellipse">
            <a:avLst/>
          </a:prstGeom>
          <a:solidFill>
            <a:srgbClr val="FF8C5A">
              <a:alpha val="75000"/>
            </a:srgbClr>
          </a:solidFill>
          <a:ln w="12700">
            <a:solidFill>
              <a:srgbClr val="FF8C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Hsien-Hsin Sean Lee  ·  Lindsay Yu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15.727 Analytical Edge  ·  </a:t>
            </a:r>
            <a:r>
              <a:rPr lang="en-US" sz="1200" dirty="0">
                <a:solidFill>
                  <a:srgbClr val="7899B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http://hsienhsinlee.github.io/dogs</a:t>
            </a:r>
            <a:endParaRPr lang="en-US" sz="1200" dirty="0"/>
          </a:p>
        </p:txBody>
      </p:sp>
      <p:pic>
        <p:nvPicPr>
          <p:cNvPr id="9" name="Graphic 2" descr="Puppy with solid fill">
            <a:extLst>
              <a:ext uri="{FF2B5EF4-FFF2-40B4-BE49-F238E27FC236}">
                <a16:creationId xmlns:a16="http://schemas.microsoft.com/office/drawing/2014/main" id="{B26FABAF-86BB-56D6-7822-08D0C7F2C1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14815" y="946035"/>
            <a:ext cx="1317105" cy="13171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1022</Words>
  <Application>Microsoft Office PowerPoint</Application>
  <PresentationFormat>On-screen Show (16:9)</PresentationFormat>
  <Paragraphs>206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Take Me Home</dc:title>
  <dc:subject>PptxGenJS Presentation</dc:subject>
  <dc:creator>Hsien-Hsin Sean Lee, Lindsay Yu</dc:creator>
  <cp:lastModifiedBy>Lee, Sean</cp:lastModifiedBy>
  <cp:revision>17</cp:revision>
  <dcterms:created xsi:type="dcterms:W3CDTF">2026-04-15T14:23:29Z</dcterms:created>
  <dcterms:modified xsi:type="dcterms:W3CDTF">2026-04-20T23:14:30Z</dcterms:modified>
</cp:coreProperties>
</file>